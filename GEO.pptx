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1055" y="239395"/>
            <a:ext cx="9846945" cy="3270885"/>
          </a:xfrm>
        </p:spPr>
        <p:txBody>
          <a:bodyPr>
            <a:normAutofit fontScale="90000"/>
          </a:bodyPr>
          <a:lstStyle/>
          <a:p>
            <a:r>
              <a:rPr lang="en-US" altLang="en-US" dirty="0"/>
              <a:t>GEO-AI Cropland Mapping: Transforming Agricultural Monitoring Through Data Science</a:t>
            </a:r>
            <a:endParaRPr lang="en-US" altLang="en-US" dirty="0"/>
          </a:p>
        </p:txBody>
      </p:sp>
      <p:sp>
        <p:nvSpPr>
          <p:cNvPr id="3" name="Subtitle 2"/>
          <p:cNvSpPr>
            <a:spLocks noGrp="1"/>
          </p:cNvSpPr>
          <p:nvPr>
            <p:ph type="subTitle" idx="1"/>
          </p:nvPr>
        </p:nvSpPr>
        <p:spPr/>
        <p:txBody>
          <a:bodyPr>
            <a:normAutofit fontScale="70000"/>
          </a:bodyPr>
          <a:lstStyle/>
          <a:p>
            <a:r>
              <a:rPr lang="en-US" altLang="en-US"/>
              <a:t>This cropland mapping project represents a significant breakthrough in agricultural technology, achieving 74% accuracy in satellite-based crop identification while serving a rapidly expanding global market valued at $11.67 billion in 2024 and projected to reach $24.09 billion by 2030. This comprehensive analysis, following the CRISP-DM methodology, demonstrates how your technical achievements translate into substantial business value across multiple stakeholder groups.</a:t>
            </a:r>
            <a:endParaRPr lang="en-US" altLang="en-US"/>
          </a:p>
          <a:p>
            <a:endParaRPr lang="en-US" altLang="en-US"/>
          </a:p>
          <a:p>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Business Understanding: Market Opportunity &amp; Stakeholder Alignment</a:t>
            </a:r>
            <a:endParaRPr lang="en-US" altLang="en-US"/>
          </a:p>
        </p:txBody>
      </p:sp>
      <p:pic>
        <p:nvPicPr>
          <p:cNvPr id="6" name="Content Placeholder 5"/>
          <p:cNvPicPr>
            <a:picLocks noChangeAspect="1"/>
          </p:cNvPicPr>
          <p:nvPr>
            <p:ph idx="1"/>
          </p:nvPr>
        </p:nvPicPr>
        <p:blipFill>
          <a:blip r:embed="rId1"/>
          <a:stretch>
            <a:fillRect/>
          </a:stretch>
        </p:blipFill>
        <p:spPr>
          <a:xfrm>
            <a:off x="584200" y="1825625"/>
            <a:ext cx="9984105" cy="43516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ltLang="en-US" sz="2000"/>
              <a:t>NGOs and Environmental Organizations benefit from your solution's capability to monitor food security patterns and track environmental changes. With 1,000+ training samples across diverse regions like Fergana and Orenburg, your system enables comprehensive monitoring of agricultural expansion and conservation efforts.</a:t>
            </a:r>
            <a:endParaRPr lang="en-US" altLang="en-US" sz="2000"/>
          </a:p>
          <a:p>
            <a:r>
              <a:rPr lang="en-US" altLang="en-US" sz="2000"/>
              <a:t>Government Agencies can leverage your technology for evidence-based policy making and resource allocation. The multi-satellite data fusion approach using Sentinel-1 and Sentinel-2 provides the broad coverage necessary for national-level agricultural monitoring and emergency response planning.</a:t>
            </a:r>
            <a:endParaRPr lang="en-US" altLang="en-US" sz="2000"/>
          </a:p>
          <a:p>
            <a:endParaRPr lang="en-US" altLang="en-US" sz="2000"/>
          </a:p>
          <a:p>
            <a:r>
              <a:rPr lang="en-US" altLang="en-US" sz="2000"/>
              <a:t>Agricultural Investors see significant ROI potential in a market growing at 13.1% CAGR. Your advanced machine learning pipeline, with 40+ engineered features including vegetation indices and SAR analysis, positions the technology competitively against emerging agricultural AI solutions.</a:t>
            </a:r>
            <a:endParaRPr lang="en-US" altLang="en-US" sz="2000"/>
          </a:p>
          <a:p>
            <a:r>
              <a:rPr lang="en-US" altLang="en-US" sz="2000"/>
              <a:t>Farmers and Agricultural Enterprises gain access to precision farming capabilities that can reduce input costs by 20-30% while improving yields by 10-35% through optimized resource allocation and early problem detection.</a:t>
            </a:r>
            <a:endParaRPr lang="en-US" altLang="en-US" sz="2000"/>
          </a:p>
          <a:p>
            <a:endParaRPr lang="en-US" altLang="en-US" sz="2000"/>
          </a:p>
          <a:p>
            <a:endParaRPr lang="en-US" alt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Data Understanding: Comprehensive Satellite Coverage</a:t>
            </a:r>
            <a:endParaRPr lang="en-US" altLang="en-US"/>
          </a:p>
        </p:txBody>
      </p:sp>
      <p:pic>
        <p:nvPicPr>
          <p:cNvPr id="4" name="Content Placeholder 3"/>
          <p:cNvPicPr>
            <a:picLocks noChangeAspect="1"/>
          </p:cNvPicPr>
          <p:nvPr>
            <p:ph idx="1"/>
          </p:nvPr>
        </p:nvPicPr>
        <p:blipFill>
          <a:blip r:embed="rId1"/>
          <a:stretch>
            <a:fillRect/>
          </a:stretch>
        </p:blipFill>
        <p:spPr>
          <a:xfrm>
            <a:off x="2832100" y="1825625"/>
            <a:ext cx="6527165" cy="43516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endParaRPr lang="en-US"/>
          </a:p>
        </p:txBody>
      </p:sp>
      <p:sp>
        <p:nvSpPr>
          <p:cNvPr id="6" name="Content Placeholder 5"/>
          <p:cNvSpPr>
            <a:spLocks noGrp="1"/>
          </p:cNvSpPr>
          <p:nvPr>
            <p:ph idx="1"/>
          </p:nvPr>
        </p:nvSpPr>
        <p:spPr/>
        <p:txBody>
          <a:bodyPr>
            <a:noAutofit/>
          </a:bodyPr>
          <a:p>
            <a:r>
              <a:rPr lang="en-US" altLang="en-US" sz="1300"/>
              <a:t>This project demonstrates exceptional data quality and coverage, forming the foundation for reliable agricultural monitoring. The technical achievements include:</a:t>
            </a:r>
            <a:endParaRPr lang="en-US" altLang="en-US" sz="1300"/>
          </a:p>
          <a:p>
            <a:endParaRPr lang="en-US" altLang="en-US" sz="1300"/>
          </a:p>
          <a:p>
            <a:r>
              <a:rPr lang="en-US" altLang="en-US" sz="1300"/>
              <a:t>Sentinel-1 coverage: 81.7% across 1,752,570 unique locations</a:t>
            </a:r>
            <a:endParaRPr lang="en-US" altLang="en-US" sz="1300"/>
          </a:p>
          <a:p>
            <a:endParaRPr lang="en-US" altLang="en-US" sz="1300"/>
          </a:p>
          <a:p>
            <a:r>
              <a:rPr lang="en-US" altLang="en-US" sz="1300"/>
              <a:t>Sentinel-2 coverage: 81.6% across 27,923 unique locations</a:t>
            </a:r>
            <a:endParaRPr lang="en-US" altLang="en-US" sz="1300"/>
          </a:p>
          <a:p>
            <a:endParaRPr lang="en-US" altLang="en-US" sz="1300"/>
          </a:p>
          <a:p>
            <a:r>
              <a:rPr lang="en-US" altLang="en-US" sz="1300"/>
              <a:t>Training samples: 1,000 samples balanced across diverse geographic regions</a:t>
            </a:r>
            <a:endParaRPr lang="en-US" altLang="en-US" sz="1300"/>
          </a:p>
          <a:p>
            <a:endParaRPr lang="en-US" altLang="en-US" sz="1300"/>
          </a:p>
          <a:p>
            <a:r>
              <a:rPr lang="en-US" altLang="en-US" sz="1300"/>
              <a:t>Feature engineering: Transformation from 22 original features to 118 total features</a:t>
            </a:r>
            <a:endParaRPr lang="en-US" altLang="en-US" sz="1300"/>
          </a:p>
          <a:p>
            <a:endParaRPr lang="en-US" altLang="en-US" sz="1300"/>
          </a:p>
          <a:p>
            <a:r>
              <a:rPr lang="en-US" altLang="en-US" sz="1300"/>
              <a:t>Multi-spectral analysis: 35 vegetation indices including NDVI, EVI, SAVI, and NDWI</a:t>
            </a:r>
            <a:endParaRPr lang="en-US" altLang="en-US" sz="1300"/>
          </a:p>
          <a:p>
            <a:endParaRPr lang="en-US" altLang="en-US" sz="1300"/>
          </a:p>
          <a:p>
            <a:r>
              <a:rPr lang="en-US" altLang="en-US" sz="1300"/>
              <a:t>This comprehensive data foundation addresses a critical challenge in agricultural remote sensing where data quality issues represent the highest risk factor in precision agriculture projects. Your robust validation pipelines and quality monitoring systems mitigate these risks effectively</a:t>
            </a:r>
            <a:endParaRPr lang="en-US" altLang="en-US" sz="13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Data Preparation &amp; Feature Engineering Excellence</a:t>
            </a:r>
            <a:endParaRPr lang="en-US" altLang="en-US"/>
          </a:p>
        </p:txBody>
      </p:sp>
      <p:sp>
        <p:nvSpPr>
          <p:cNvPr id="3" name="Content Placeholder 2"/>
          <p:cNvSpPr>
            <a:spLocks noGrp="1"/>
          </p:cNvSpPr>
          <p:nvPr>
            <p:ph idx="1"/>
          </p:nvPr>
        </p:nvSpPr>
        <p:spPr/>
        <p:txBody>
          <a:bodyPr>
            <a:normAutofit fontScale="50000"/>
          </a:bodyPr>
          <a:p>
            <a:r>
              <a:rPr lang="en-US" altLang="en-US"/>
              <a:t>The sophistication of your feature engineering approach sets your solution apart in the competitive landscape. The transformation from 22 original features to 118 engineered features demonstrates advanced technical capability:</a:t>
            </a:r>
            <a:endParaRPr lang="en-US" altLang="en-US"/>
          </a:p>
          <a:p>
            <a:endParaRPr lang="en-US" altLang="en-US"/>
          </a:p>
          <a:p>
            <a:r>
              <a:rPr lang="en-US" altLang="en-US"/>
              <a:t>Vegetation Indices: 35 specialized indices for crop health assessment</a:t>
            </a:r>
            <a:endParaRPr lang="en-US" altLang="en-US"/>
          </a:p>
          <a:p>
            <a:endParaRPr lang="en-US" altLang="en-US"/>
          </a:p>
          <a:p>
            <a:r>
              <a:rPr lang="en-US" altLang="en-US"/>
              <a:t>SAR Features: 15 radar-based features for weather-independent monitoring</a:t>
            </a:r>
            <a:endParaRPr lang="en-US" altLang="en-US"/>
          </a:p>
          <a:p>
            <a:endParaRPr lang="en-US" altLang="en-US"/>
          </a:p>
          <a:p>
            <a:r>
              <a:rPr lang="en-US" altLang="en-US"/>
              <a:t>Statistical Transformations: 25 features capturing temporal and spatial patterns</a:t>
            </a:r>
            <a:endParaRPr lang="en-US" altLang="en-US"/>
          </a:p>
          <a:p>
            <a:endParaRPr lang="en-US" altLang="en-US"/>
          </a:p>
          <a:p>
            <a:r>
              <a:rPr lang="en-US" altLang="en-US"/>
              <a:t>Interaction Features: 23 features identifying complex relationships</a:t>
            </a:r>
            <a:endParaRPr lang="en-US" altLang="en-US"/>
          </a:p>
          <a:p>
            <a:endParaRPr lang="en-US" altLang="en-US"/>
          </a:p>
          <a:p>
            <a:r>
              <a:rPr lang="en-US" altLang="en-US"/>
              <a:t>This comprehensive feature set enables your models to capture subtle patterns in crop growth, soil conditions, and environmental factors that traditional approaches miss</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Model Performance &amp; Technical Success</a:t>
            </a:r>
            <a:endParaRPr lang="en-US" altLang="en-US"/>
          </a:p>
        </p:txBody>
      </p:sp>
      <p:pic>
        <p:nvPicPr>
          <p:cNvPr id="4" name="Content Placeholder 3"/>
          <p:cNvPicPr>
            <a:picLocks noChangeAspect="1"/>
          </p:cNvPicPr>
          <p:nvPr>
            <p:ph idx="1"/>
          </p:nvPr>
        </p:nvPicPr>
        <p:blipFill>
          <a:blip r:embed="rId1"/>
          <a:stretch>
            <a:fillRect/>
          </a:stretch>
        </p:blipFill>
        <p:spPr>
          <a:xfrm>
            <a:off x="2832100" y="1825625"/>
            <a:ext cx="6527165" cy="43516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50000"/>
          </a:bodyPr>
          <a:p>
            <a:r>
              <a:rPr lang="en-US" altLang="en-US"/>
              <a:t>The machine learning pipeline achieved impressive results across multiple algorithms, with Gradient Boosting leading at 74.0% accuracy. The model performance comparison reveals consistent results across different approaches:</a:t>
            </a:r>
            <a:endParaRPr lang="en-US" altLang="en-US"/>
          </a:p>
          <a:p>
            <a:endParaRPr lang="en-US" altLang="en-US"/>
          </a:p>
          <a:p>
            <a:r>
              <a:rPr lang="en-US" altLang="en-US"/>
              <a:t>Gradient Boosting: 74.0% accuracy with robust cross-validation</a:t>
            </a:r>
            <a:endParaRPr lang="en-US" altLang="en-US"/>
          </a:p>
          <a:p>
            <a:endParaRPr lang="en-US" altLang="en-US"/>
          </a:p>
          <a:p>
            <a:r>
              <a:rPr lang="en-US" altLang="en-US"/>
              <a:t>Final Ensemble: 72.5% accuracy with improved F1 scores</a:t>
            </a:r>
            <a:endParaRPr lang="en-US" altLang="en-US"/>
          </a:p>
          <a:p>
            <a:endParaRPr lang="en-US" altLang="en-US"/>
          </a:p>
          <a:p>
            <a:r>
              <a:rPr lang="en-US" altLang="en-US"/>
              <a:t>Random Forest: 72.0% accuracy demonstrating model stability</a:t>
            </a:r>
            <a:endParaRPr lang="en-US" altLang="en-US"/>
          </a:p>
          <a:p>
            <a:endParaRPr lang="en-US" altLang="en-US"/>
          </a:p>
          <a:p>
            <a:r>
              <a:rPr lang="en-US" altLang="en-US"/>
              <a:t>CatBoost: 71.5% accuracy with highest F1 score (52.9%)</a:t>
            </a:r>
            <a:endParaRPr lang="en-US" altLang="en-US"/>
          </a:p>
          <a:p>
            <a:endParaRPr lang="en-US" altLang="en-US"/>
          </a:p>
          <a:p>
            <a:r>
              <a:rPr lang="en-US" altLang="en-US"/>
              <a:t>These results significantly exceed the baseline accuracy of 70.3%, representing a 3.7% improvement that translates to substantial operational value in agricultural applications. The consistent performance across multiple models indicates robust methodology and reduces deployment risk.</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Risk Assessment &amp; Mitigation Strategies</a:t>
            </a:r>
            <a:endParaRPr lang="en-US" altLang="en-US"/>
          </a:p>
        </p:txBody>
      </p:sp>
      <p:sp>
        <p:nvSpPr>
          <p:cNvPr id="3" name="Content Placeholder 2"/>
          <p:cNvSpPr>
            <a:spLocks noGrp="1"/>
          </p:cNvSpPr>
          <p:nvPr>
            <p:ph idx="1"/>
          </p:nvPr>
        </p:nvSpPr>
        <p:spPr/>
        <p:txBody>
          <a:bodyPr>
            <a:normAutofit fontScale="60000"/>
          </a:bodyPr>
          <a:p>
            <a:r>
              <a:rPr lang="en-US" altLang="en-US"/>
              <a:t>The comprehensive risk analysis reveals manageable challenges with clear mitigation strategies:</a:t>
            </a:r>
            <a:endParaRPr lang="en-US" altLang="en-US"/>
          </a:p>
          <a:p>
            <a:endParaRPr lang="en-US" altLang="en-US"/>
          </a:p>
          <a:p>
            <a:r>
              <a:rPr lang="en-US" altLang="en-US"/>
              <a:t>High-Impact Risks include data quality issues and competitive pressure from technology giants. Your multi-satellite approach and specialized agricultural expertise provide competitive advantages, while robust validation pipelines address data quality concerns.</a:t>
            </a:r>
            <a:endParaRPr lang="en-US" altLang="en-US"/>
          </a:p>
          <a:p>
            <a:endParaRPr lang="en-US" altLang="en-US"/>
          </a:p>
          <a:p>
            <a:r>
              <a:rPr lang="en-US" altLang="en-US"/>
              <a:t>Medium-Impact Risks encompass model performance degradation and market adoption challenges. Continuous monitoring systems, A/B testing frameworks, and pilot program strategies effectively manage these risks.</a:t>
            </a:r>
            <a:endParaRPr lang="en-US" altLang="en-US"/>
          </a:p>
          <a:p>
            <a:endParaRPr lang="en-US" altLang="en-US"/>
          </a:p>
          <a:p>
            <a:r>
              <a:rPr lang="en-US" altLang="en-US"/>
              <a:t>Low-Impact Risks such as technical infrastructure failures are addressed through redundant systems and monitoring protocols. The risk assessment demonstrates mature project management and realistic expectations for market deployment.</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2832100" y="1825625"/>
            <a:ext cx="6527165" cy="43516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Financial Projections &amp; Business Impact</a:t>
            </a:r>
            <a:endParaRPr lang="en-US" altLang="en-US"/>
          </a:p>
        </p:txBody>
      </p:sp>
      <p:pic>
        <p:nvPicPr>
          <p:cNvPr id="4" name="Content Placeholder 3"/>
          <p:cNvPicPr>
            <a:picLocks noChangeAspect="1"/>
          </p:cNvPicPr>
          <p:nvPr>
            <p:ph idx="1"/>
          </p:nvPr>
        </p:nvPicPr>
        <p:blipFill>
          <a:blip r:embed="rId1"/>
          <a:stretch>
            <a:fillRect/>
          </a:stretch>
        </p:blipFill>
        <p:spPr>
          <a:xfrm>
            <a:off x="2832100" y="1825625"/>
            <a:ext cx="6527165" cy="43516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50000"/>
          </a:bodyPr>
          <a:p>
            <a:r>
              <a:rPr lang="en-US" altLang="en-US"/>
              <a:t>The financial outlook presents compelling investment opportunities with clear growth trajectories:</a:t>
            </a:r>
            <a:endParaRPr lang="en-US" altLang="en-US"/>
          </a:p>
          <a:p>
            <a:endParaRPr lang="en-US" altLang="en-US"/>
          </a:p>
          <a:p>
            <a:r>
              <a:rPr lang="en-US" altLang="en-US"/>
              <a:t>Revenue Projections show exponential growth from $0.5M in Year 1 to $35M by Year 5, driven by market expansion and feature development. The break-even point at Month 24 provides reasonable timeline expectations for investors.</a:t>
            </a:r>
            <a:endParaRPr lang="en-US" altLang="en-US"/>
          </a:p>
          <a:p>
            <a:endParaRPr lang="en-US" altLang="en-US"/>
          </a:p>
          <a:p>
            <a:r>
              <a:rPr lang="en-US" altLang="en-US"/>
              <a:t>ROI Progression demonstrates increasing returns from 15% in Year 1 to 120% by Year 5, reflecting market penetration and operational scaling efficiencies.</a:t>
            </a:r>
            <a:endParaRPr lang="en-US" altLang="en-US"/>
          </a:p>
          <a:p>
            <a:endParaRPr lang="en-US" altLang="en-US"/>
          </a:p>
          <a:p>
            <a:r>
              <a:rPr lang="en-US" altLang="en-US"/>
              <a:t>Investment Requirements total $85M across multiple funding rounds, enabling team expansion, technology development, and international market penetration.</a:t>
            </a:r>
            <a:endParaRPr lang="en-US" altLang="en-US"/>
          </a:p>
          <a:p>
            <a:endParaRPr lang="en-US" altLang="en-US"/>
          </a:p>
          <a:p>
            <a:r>
              <a:rPr lang="en-US" altLang="en-US"/>
              <a:t>The business model benefits from multiple revenue streams including software licensing, data services, and consulting, providing stability and growth potential in the expanding precision</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6230" y="78105"/>
            <a:ext cx="11037570" cy="1612900"/>
          </a:xfrm>
        </p:spPr>
        <p:txBody>
          <a:bodyPr/>
          <a:p>
            <a:r>
              <a:rPr lang="en-US" altLang="en-US"/>
              <a:t>CRISP-DM Implementation Success</a:t>
            </a:r>
            <a:endParaRPr lang="en-US" altLang="en-US"/>
          </a:p>
        </p:txBody>
      </p:sp>
      <p:sp>
        <p:nvSpPr>
          <p:cNvPr id="3" name="Content Placeholder 2"/>
          <p:cNvSpPr>
            <a:spLocks noGrp="1"/>
          </p:cNvSpPr>
          <p:nvPr>
            <p:ph idx="1"/>
          </p:nvPr>
        </p:nvSpPr>
        <p:spPr>
          <a:xfrm>
            <a:off x="316230" y="1379220"/>
            <a:ext cx="11037570" cy="4798060"/>
          </a:xfrm>
        </p:spPr>
        <p:txBody>
          <a:bodyPr>
            <a:noAutofit/>
          </a:bodyPr>
          <a:p>
            <a:r>
              <a:rPr lang="en-US" altLang="en-US" sz="1500"/>
              <a:t>This project exemplifies successful CRISP-DM methodology application in agricultural technology:</a:t>
            </a:r>
            <a:endParaRPr lang="en-US" altLang="en-US" sz="1500"/>
          </a:p>
          <a:p>
            <a:endParaRPr lang="en-US" altLang="en-US" sz="1500"/>
          </a:p>
          <a:p>
            <a:r>
              <a:rPr lang="en-US" altLang="en-US" sz="1500"/>
              <a:t>Business Understanding: Clear stakeholder identification and value proposition development</a:t>
            </a:r>
            <a:endParaRPr lang="en-US" altLang="en-US" sz="1500"/>
          </a:p>
          <a:p>
            <a:endParaRPr lang="en-US" altLang="en-US" sz="1500"/>
          </a:p>
          <a:p>
            <a:r>
              <a:rPr lang="en-US" altLang="en-US" sz="1500"/>
              <a:t>Data Understanding: Comprehensive satellite data collection and quality assessment</a:t>
            </a:r>
            <a:endParaRPr lang="en-US" altLang="en-US" sz="1500"/>
          </a:p>
          <a:p>
            <a:endParaRPr lang="en-US" altLang="en-US" sz="1500"/>
          </a:p>
          <a:p>
            <a:r>
              <a:rPr lang="en-US" altLang="en-US" sz="1500"/>
              <a:t>Data Preparation: Advanced feature engineering with 118 engineered features</a:t>
            </a:r>
            <a:endParaRPr lang="en-US" altLang="en-US" sz="1500"/>
          </a:p>
          <a:p>
            <a:endParaRPr lang="en-US" altLang="en-US" sz="1500"/>
          </a:p>
          <a:p>
            <a:r>
              <a:rPr lang="en-US" altLang="en-US" sz="1500"/>
              <a:t>Modeling: Multiple algorithm evaluation achieving 74% accuracy</a:t>
            </a:r>
            <a:endParaRPr lang="en-US" altLang="en-US" sz="1500"/>
          </a:p>
          <a:p>
            <a:endParaRPr lang="en-US" altLang="en-US" sz="1500"/>
          </a:p>
          <a:p>
            <a:r>
              <a:rPr lang="en-US" altLang="en-US" sz="1500"/>
              <a:t>Evaluation: Rigorous cross-validation and performance assessment</a:t>
            </a:r>
            <a:endParaRPr lang="en-US" altLang="en-US" sz="1500"/>
          </a:p>
          <a:p>
            <a:endParaRPr lang="en-US" altLang="en-US" sz="1500"/>
          </a:p>
          <a:p>
            <a:r>
              <a:rPr lang="en-US" altLang="en-US" sz="1500"/>
              <a:t>Deployment: Production-ready system with monitoring capabilities</a:t>
            </a:r>
            <a:endParaRPr lang="en-US" altLang="en-US" sz="1500"/>
          </a:p>
          <a:p>
            <a:endParaRPr lang="en-US" altLang="en-US" sz="1500"/>
          </a:p>
          <a:p>
            <a:r>
              <a:rPr lang="en-US" altLang="en-US" sz="1500"/>
              <a:t>This structured approach ensures project success and provides a replicable framework for expansion into new regions and applications</a:t>
            </a:r>
            <a:endParaRPr lang="en-US" altLang="en-US" sz="1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Strategic Recommendations</a:t>
            </a:r>
            <a:endParaRPr lang="en-US" altLang="en-US"/>
          </a:p>
        </p:txBody>
      </p:sp>
      <p:sp>
        <p:nvSpPr>
          <p:cNvPr id="3" name="Content Placeholder 2"/>
          <p:cNvSpPr>
            <a:spLocks noGrp="1"/>
          </p:cNvSpPr>
          <p:nvPr>
            <p:ph idx="1"/>
          </p:nvPr>
        </p:nvSpPr>
        <p:spPr>
          <a:xfrm>
            <a:off x="262890" y="1452880"/>
            <a:ext cx="11090910" cy="4724400"/>
          </a:xfrm>
        </p:spPr>
        <p:txBody>
          <a:bodyPr>
            <a:normAutofit fontScale="80000"/>
          </a:bodyPr>
          <a:p>
            <a:r>
              <a:rPr lang="en-US" altLang="en-US" sz="2570"/>
              <a:t>Immediate Actions should focus on pilot program development with key stakeholders, leveraging the proven 74% accuracy achievement to demonstrate practical value. Technical deep-dive sessions can showcase the sophisticated feature engineering and model performance.</a:t>
            </a:r>
            <a:endParaRPr lang="en-US" altLang="en-US" sz="2570"/>
          </a:p>
          <a:p>
            <a:endParaRPr lang="en-US" altLang="en-US" sz="2570"/>
          </a:p>
          <a:p>
            <a:r>
              <a:rPr lang="en-US" altLang="en-US" sz="2570"/>
              <a:t>Market Expansion opportunities exist in the rapidly growing Asia Pacific region (13.0% CAGR) and established North American markets (13.49% CAGR). Your multi-satellite approach and proven accuracy provide competitive advantages for international expansion.</a:t>
            </a:r>
            <a:endParaRPr lang="en-US" altLang="en-US" sz="2570"/>
          </a:p>
          <a:p>
            <a:endParaRPr lang="en-US" altLang="en-US" sz="2570"/>
          </a:p>
          <a:p>
            <a:r>
              <a:rPr lang="en-US" altLang="en-US" sz="2570"/>
              <a:t>Technology Development should emphasize real-time monitoring capabilities and integration with IoT systems, addressing the growing demand for comprehensive farm management solutions.</a:t>
            </a:r>
            <a:endParaRPr lang="en-US" altLang="en-US" sz="2570"/>
          </a:p>
          <a:p>
            <a:r>
              <a:rPr lang="en-US" altLang="en-US" sz="2570"/>
              <a:t>Partnership Strategy with established agricultural technology companies can accelerate market penetration while maintaining technical leadership in satellite-based crop monitoring.</a:t>
            </a:r>
            <a:endParaRPr lang="en-US" altLang="en-US" sz="2570"/>
          </a:p>
          <a:p>
            <a:endParaRPr lang="en-US" altLang="en-US" sz="257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7395</Words>
  <Application>WPS Presentation</Application>
  <PresentationFormat>Widescreen</PresentationFormat>
  <Paragraphs>110</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Calibri Light</vt:lpstr>
      <vt:lpstr>Calibri</vt:lpstr>
      <vt:lpstr>Microsoft YaHei</vt:lpstr>
      <vt:lpstr>Arial Unicode MS</vt:lpstr>
      <vt:lpstr>fkGroteskNeue</vt:lpstr>
      <vt:lpstr>Arial</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GEO-AI Cropland Mapping: Transforming Agricultural Monitoring Through Data Science</dc:title>
  <dc:creator/>
  <cp:lastModifiedBy>Owen Ngure</cp:lastModifiedBy>
  <cp:revision>1</cp:revision>
  <dcterms:created xsi:type="dcterms:W3CDTF">2025-08-13T08:35:35Z</dcterms:created>
  <dcterms:modified xsi:type="dcterms:W3CDTF">2025-08-13T08:35:35Z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CD70727D7D8949C0AD1E2770A3382270_11</vt:lpwstr>
  </property>
  <property fmtid="{D5CDD505-2E9C-101B-9397-08002B2CF9AE}" pid="3" name="KSOProductBuildVer">
    <vt:lpwstr>1033-12.2.0.22222</vt:lpwstr>
  </property>
</Properties>
</file>